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81B34"/>
          </a:solidFill>
          <a:ln w="12700">
            <a:solidFill>
              <a:srgbClr val="14365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74536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9A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EMPRE.IA · Guía de integración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6574536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9A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30/10 · versión 0.7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731520"/>
            <a:ext cx="4937760" cy="4937760"/>
          </a:xfrm>
          <a:prstGeom prst="arc">
            <a:avLst/>
          </a:prstGeom>
          <a:solidFill>
            <a:srgbClr val="20DCFF">
              <a:alpha val="0"/>
            </a:srgbClr>
          </a:solidFill>
          <a:ln w="25400">
            <a:solidFill>
              <a:srgbClr val="20DCFF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645920"/>
            <a:ext cx="5303520" cy="5303520"/>
          </a:xfrm>
          <a:prstGeom prst="arc">
            <a:avLst/>
          </a:prstGeom>
          <a:solidFill>
            <a:srgbClr val="9C63FF">
              <a:alpha val="0"/>
            </a:srgbClr>
          </a:solidFill>
          <a:ln w="25400">
            <a:solidFill>
              <a:srgbClr val="9C63FF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8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F"/>
                </a:solidFill>
              </a:rPr>
              <a:t>EMPRE.IA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8FF"/>
                </a:solidFill>
              </a:rPr>
              <a:t>Guía de integración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BB0C8"/>
                </a:solidFill>
              </a:rPr>
              <a:t>Cómo conectar una empresa a EMPRE.IA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BB0C8"/>
                </a:solidFill>
              </a:rPr>
              <a:t>sin perder control, permisos ni trazabilidad.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657600"/>
            <a:ext cx="2606040" cy="256032"/>
          </a:xfrm>
          <a:prstGeom prst="roundRect">
            <a:avLst>
              <a:gd name="adj" fmla="val 21429"/>
            </a:avLst>
          </a:prstGeom>
          <a:solidFill>
            <a:srgbClr val="20DCFF">
              <a:alpha val="14000"/>
            </a:srgbClr>
          </a:solidFill>
          <a:ln w="12700">
            <a:solidFill>
              <a:srgbClr val="20DC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3717036"/>
            <a:ext cx="2478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0DCFF"/>
                </a:solidFill>
              </a:rPr>
              <a:t>PARA DUEÑOS Y DESARROLLADORES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4160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</a:rPr>
              <a:t>Regla central: el propietario decide cuándo integrar.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8FF"/>
                </a:solidFill>
              </a:rPr>
              <a:t>EMPRE puede preparar el plan, pero no se otorga acceso en silencio.</a:t>
            </a:r>
            <a:endParaRPr lang="en-US" sz="1300" dirty="0"/>
          </a:p>
        </p:txBody>
      </p:sp>
      <p:pic>
        <p:nvPicPr>
          <p:cNvPr id="11" name="Image 0" descr="/mnt/data/EMPREIA-0.7.0-MULTIAGENT-GUIDE/apps/web/public/empre-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143000"/>
            <a:ext cx="292608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0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ANTES DE EMPEZAR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necesita una integración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URL pública no convierte automáticamente una página en un sistema operable.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55680" cy="4297680"/>
          </a:xfrm>
          <a:prstGeom prst="roundRect">
            <a:avLst>
              <a:gd name="adj" fmla="val 1702"/>
            </a:avLst>
          </a:prstGeom>
          <a:solidFill>
            <a:srgbClr val="0C203A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API / Connector / SDK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78408" y="26243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Debe existir una interfaz que permita consultar o actuar sobre el sistema.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Autenticación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9088" y="26243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OAuth, login técnico, Bearer, API key u otro mecanismo controlado.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Permisos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78408" y="44531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Define qué puede leer y qué puede modificar EMPRE.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88620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4069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Cuenta técnica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19088" y="445312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Cuando sea posible, usa una cuenta dedicada a EMPRE con privilegio mínimo.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D47"/>
                </a:solidFill>
              </a:rPr>
              <a:t>IMPORTANTE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544982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Si no existe API/SDK/webhook, EMPRE necesita un adaptador específico. No se debe fingir una “conexión” leyendo sólo la interfaz pública.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0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FLUJO DE CONEXIÓN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completa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propietario mantiene la decisión y EMPRE valida cada paso antes de desbloquear operaciones.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0116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2267712"/>
            <a:ext cx="685800" cy="685800"/>
          </a:xfrm>
          <a:prstGeom prst="ellipse">
            <a:avLst/>
          </a:prstGeom>
          <a:solidFill>
            <a:srgbClr val="20DCFF">
              <a:alpha val="16000"/>
            </a:srgbClr>
          </a:solidFill>
          <a:ln w="19050">
            <a:solidFill>
              <a:srgbClr val="20D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4414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DC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8952" y="3182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Solicitar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584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B0C8"/>
                </a:solidFill>
              </a:rPr>
              <a:t>El dueño pulsa “Preparar conexión”.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96896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66F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89504" y="20116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9584" y="2267712"/>
            <a:ext cx="685800" cy="685800"/>
          </a:xfrm>
          <a:prstGeom prst="ellipse">
            <a:avLst/>
          </a:prstGeom>
          <a:solidFill>
            <a:srgbClr val="20DCFF">
              <a:alpha val="16000"/>
            </a:srgbClr>
          </a:solidFill>
          <a:ln w="19050">
            <a:solidFill>
              <a:srgbClr val="20D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4414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DC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26664" y="3182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Descubrir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72384" y="3584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B0C8"/>
                </a:solidFill>
              </a:rPr>
              <a:t>EMPRE revisa la URL y busca OpenAPI, manifest y health.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64608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66F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57216" y="20116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7296" y="2267712"/>
            <a:ext cx="685800" cy="685800"/>
          </a:xfrm>
          <a:prstGeom prst="ellipse">
            <a:avLst/>
          </a:prstGeom>
          <a:solidFill>
            <a:srgbClr val="20DCFF">
              <a:alpha val="16000"/>
            </a:srgbClr>
          </a:solidFill>
          <a:ln w="19050">
            <a:solidFill>
              <a:srgbClr val="20D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97296" y="24414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DC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94376" y="3182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Autorizar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0096" y="3584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B0C8"/>
                </a:solidFill>
              </a:rPr>
              <a:t>El dueño revisa capacidades y aporta autenticación.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32320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66F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424928" y="20116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65008" y="2267712"/>
            <a:ext cx="685800" cy="685800"/>
          </a:xfrm>
          <a:prstGeom prst="ellipse">
            <a:avLst/>
          </a:prstGeom>
          <a:solidFill>
            <a:srgbClr val="20DCFF">
              <a:alpha val="16000"/>
            </a:srgbClr>
          </a:solidFill>
          <a:ln w="19050">
            <a:solidFill>
              <a:srgbClr val="20D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65008" y="24414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DC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562088" y="3182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Verificar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07808" y="3584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B0C8"/>
                </a:solidFill>
              </a:rPr>
              <a:t>EMPRE prueba health, identidad y herramientas.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400032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66F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92640" y="201168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32720" y="2267712"/>
            <a:ext cx="685800" cy="685800"/>
          </a:xfrm>
          <a:prstGeom prst="ellipse">
            <a:avLst/>
          </a:prstGeom>
          <a:solidFill>
            <a:srgbClr val="28E68C">
              <a:alpha val="16000"/>
            </a:srgbClr>
          </a:solidFill>
          <a:ln w="19050">
            <a:solidFill>
              <a:srgbClr val="28E6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4414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E68C"/>
                </a:solidFill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829800" y="318211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F"/>
                </a:solidFill>
              </a:rPr>
              <a:t>Operar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875520" y="35844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9BB0C8"/>
                </a:solidFill>
              </a:rPr>
              <a:t>Sólo las herramientas aprobadas quedan disponibles.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05840" y="4572000"/>
            <a:ext cx="10149840" cy="960120"/>
          </a:xfrm>
          <a:prstGeom prst="roundRect">
            <a:avLst>
              <a:gd name="adj" fmla="val 7619"/>
            </a:avLst>
          </a:prstGeom>
          <a:solidFill>
            <a:srgbClr val="0B1B30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DCFF"/>
                </a:solidFill>
              </a:rPr>
              <a:t>Regla de oro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97480" y="4773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</a:rPr>
              <a:t>Una conexión activa no significa acceso ilimitado. Cada herramienta tiene método, ruta, permiso, política y trazabilidad.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0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ASISTENTE DE INTEGRACIÓN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EMPRE puede preparar la integración a petición del dueño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preparación es asistida: descubre y organiza. La activación final sigue siendo una decisión humana.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5120640" cy="4251960"/>
          </a:xfrm>
          <a:prstGeom prst="roundRect">
            <a:avLst>
              <a:gd name="adj" fmla="val 1720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pic>
        <p:nvPicPr>
          <p:cNvPr id="6" name="Image 0" descr="/mnt/data/EMPREIA-0.7.0-MULTIAGENT-GUIDE/apps/web/public/empre-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10972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8FF"/>
                </a:solidFill>
              </a:rPr>
              <a:t>Botón flotante “Guía”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057400" y="2839212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21992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Abre la guía en cualquier módulo.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57400" y="3232404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21992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Elige “Preparar conexión”.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57400" y="3625596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21992" y="35753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Escribe la URL y el objetivo.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057400" y="4018788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21992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EMPRE genera un plan revisable.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057400" y="4411980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21992" y="43616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Aplica el plan al formulario Connector.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943600" y="1810512"/>
            <a:ext cx="5669280" cy="4251960"/>
          </a:xfrm>
          <a:prstGeom prst="roundRect">
            <a:avLst>
              <a:gd name="adj" fmla="val 1720"/>
            </a:avLst>
          </a:prstGeom>
          <a:solidFill>
            <a:srgbClr val="0C203A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20848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Ejemplo de resultado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236208" y="2468880"/>
            <a:ext cx="21488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00216" y="2528316"/>
            <a:ext cx="2020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READY FOR OWNER REVIEW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36208" y="297180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B0C8"/>
                </a:solidFill>
              </a:rPr>
              <a:t>Tipo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60920" y="29718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8FF"/>
                </a:solidFill>
              </a:rPr>
              <a:t>API / Connector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236208" y="348386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B0C8"/>
                </a:solidFill>
              </a:rPr>
              <a:t>Auth. sugerida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60920" y="348386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8FF"/>
                </a:solidFill>
              </a:rPr>
              <a:t>OAuth · Bearer · API key · Login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36208" y="39959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B0C8"/>
                </a:solidFill>
              </a:rPr>
              <a:t>Descubrimiento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360920" y="39959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8FF"/>
                </a:solidFill>
              </a:rPr>
              <a:t>OpenAPI → Manifest → Health → Identity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236208" y="450799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B0C8"/>
                </a:solidFill>
              </a:rPr>
              <a:t>Seguridad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360920" y="45079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8FF"/>
                </a:solidFill>
              </a:rPr>
              <a:t>HTTPS · cuenta técnica · mínimo privilegio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236208" y="502005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B0C8"/>
                </a:solidFill>
              </a:rPr>
              <a:t>Siguiente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360920" y="50200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8FF"/>
                </a:solidFill>
              </a:rPr>
              <a:t>Completar credenciales y verificar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36208" y="55321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AD47"/>
                </a:solidFill>
              </a:rPr>
              <a:t>EMPRE no crea permisos que el dueño no haya autorizado.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0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CONTRATO TÉCNICO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 exponer el sistema externo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 funciona mejor cuando el sistema declara sus capacidades de forma explícita.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6583680" cy="4315968"/>
          </a:xfrm>
          <a:prstGeom prst="roundRect">
            <a:avLst>
              <a:gd name="adj" fmla="val 1695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Endpoints recomendados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                 → estado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308152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/api/me                  → identidad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358444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/openapi.json            → contrato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408736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D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/empre/manifest           → herramientas EMPRE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459028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           → autenticación, si aplica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5257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B0C8"/>
                </a:solidFill>
              </a:rPr>
              <a:t>Ejemplo de herramienta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557784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4F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name: "clients.list", method: "GET", path: "/api/clients", readOnly: true }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452360" y="1810512"/>
            <a:ext cx="4160520" cy="4315968"/>
          </a:xfrm>
          <a:prstGeom prst="roundRect">
            <a:avLst>
              <a:gd name="adj" fmla="val 1758"/>
            </a:avLst>
          </a:prstGeom>
          <a:solidFill>
            <a:srgbClr val="0C203A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Lo que EMPRE no hará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26680" y="2747772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26974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No adivinar rutas privadas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26680" y="3278124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91272" y="32278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No asumir permisos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3808476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37581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No usar credenciales en el frontend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26680" y="4338828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91272" y="428853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No llamar una función no declarada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26680" y="4869180"/>
            <a:ext cx="73152" cy="73152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91272" y="481888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BB0C8"/>
                </a:solidFill>
              </a:rPr>
              <a:t>No decir “conectado” sin verificar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0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SEGURIDAD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Conectar no equivale a dar control total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seguridad está en el flujo, no en una casilla de “sí”.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11680" cy="2971800"/>
          </a:xfrm>
          <a:prstGeom prst="roundRect">
            <a:avLst>
              <a:gd name="adj" fmla="val 3636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DC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Identidad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BB0C8"/>
                </a:solidFill>
              </a:rPr>
              <a:t>¿Quién es el sistema y qué cuenta usa EMPRE?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6352" y="1965960"/>
            <a:ext cx="2011680" cy="2971800"/>
          </a:xfrm>
          <a:prstGeom prst="roundRect">
            <a:avLst>
              <a:gd name="adj" fmla="val 3636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DCFF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80944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Capacidad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80944" y="32461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BB0C8"/>
                </a:solidFill>
              </a:rPr>
              <a:t>¿Qué herramientas declara?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84064" y="1965960"/>
            <a:ext cx="2011680" cy="2971800"/>
          </a:xfrm>
          <a:prstGeom prst="roundRect">
            <a:avLst>
              <a:gd name="adj" fmla="val 3636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DCFF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48656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Permiso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48656" y="32461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BB0C8"/>
                </a:solidFill>
              </a:rPr>
              <a:t>¿El dueño autorizó esa herramienta?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51776" y="1965960"/>
            <a:ext cx="2011680" cy="2971800"/>
          </a:xfrm>
          <a:prstGeom prst="roundRect">
            <a:avLst>
              <a:gd name="adj" fmla="val 3636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DCFF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6368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Aprobación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16368" y="32461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BB0C8"/>
                </a:solidFill>
              </a:rPr>
              <a:t>¿La acción modifica datos o dinero?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19488" y="1965960"/>
            <a:ext cx="2011680" cy="2971800"/>
          </a:xfrm>
          <a:prstGeom prst="roundRect">
            <a:avLst>
              <a:gd name="adj" fmla="val 3636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2194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DCFF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0" y="269748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8FF"/>
                </a:solidFill>
              </a:rPr>
              <a:t>Auditoría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0" y="3246120"/>
            <a:ext cx="1627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9BB0C8"/>
                </a:solidFill>
              </a:rPr>
              <a:t>¿Quedó registro de lo ocurrido?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530352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B1B30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5477256"/>
            <a:ext cx="9921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F"/>
                </a:solidFill>
              </a:rPr>
              <a:t>Producción: HTTPS, secretos sólo en backend y nada de acceso directo a la base de datos si existe una API/Connector.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0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USO DENTRO DE EMPRE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verá el dueño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guía debe ser pequeña, visible y útil: robot flotante + “Guía”.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94960" cy="4069080"/>
          </a:xfrm>
          <a:prstGeom prst="roundRect">
            <a:avLst>
              <a:gd name="adj" fmla="val 1798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</a:rPr>
              <a:t>Robot flotante</a:t>
            </a:r>
            <a:endParaRPr lang="en-US" sz="1600" dirty="0"/>
          </a:p>
        </p:txBody>
      </p:sp>
      <p:pic>
        <p:nvPicPr>
          <p:cNvPr id="7" name="Image 0" descr="/mnt/data/EMPREIA-0.7.0-MULTIAGENT-GUIDE/apps/web/public/empre-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1188720" cy="1737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43342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0C8"/>
                </a:solidFill>
              </a:rPr>
              <a:t>Guía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23160" y="2834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F"/>
                </a:solidFill>
              </a:rPr>
              <a:t>→ abre ayuda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F"/>
                </a:solidFill>
              </a:rPr>
              <a:t>→ prepara conexión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8FF"/>
                </a:solidFill>
              </a:rPr>
              <a:t>→ muestra PowerPoint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349240" cy="4069080"/>
          </a:xfrm>
          <a:prstGeom prst="roundRect">
            <a:avLst>
              <a:gd name="adj" fmla="val 1798"/>
            </a:avLst>
          </a:prstGeom>
          <a:solidFill>
            <a:srgbClr val="0C203A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8FF"/>
                </a:solidFill>
              </a:rPr>
              <a:t>Desde Integraciones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65392" y="2724912"/>
            <a:ext cx="182880" cy="182880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2697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8FF"/>
                </a:solidFill>
              </a:rPr>
              <a:t>Añadir sistema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6565392" y="3145536"/>
            <a:ext cx="182880" cy="182880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3118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8FF"/>
                </a:solidFill>
              </a:rPr>
              <a:t>Introducir URL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65392" y="3566160"/>
            <a:ext cx="182880" cy="182880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03720" y="35387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8FF"/>
                </a:solidFill>
              </a:rPr>
              <a:t>Preparar con EMPRE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6565392" y="3986784"/>
            <a:ext cx="182880" cy="182880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03720" y="3959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8FF"/>
                </a:solidFill>
              </a:rPr>
              <a:t>Revisar plan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565392" y="4407408"/>
            <a:ext cx="182880" cy="182880"/>
          </a:xfrm>
          <a:prstGeom prst="ellipse">
            <a:avLst/>
          </a:prstGeom>
          <a:solidFill>
            <a:srgbClr val="20DCFF"/>
          </a:solidFill>
          <a:ln w="12700">
            <a:solidFill>
              <a:srgbClr val="20DC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43799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8FF"/>
                </a:solidFill>
              </a:rPr>
              <a:t>Aplicar borrador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565392" y="4828032"/>
            <a:ext cx="182880" cy="182880"/>
          </a:xfrm>
          <a:prstGeom prst="ellipse">
            <a:avLst/>
          </a:prstGeom>
          <a:solidFill>
            <a:srgbClr val="28E68C"/>
          </a:solidFill>
          <a:ln w="12700">
            <a:solidFill>
              <a:srgbClr val="28E68C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4800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8FF"/>
                </a:solidFill>
              </a:rPr>
              <a:t>Completar autenticación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6565392" y="5248656"/>
            <a:ext cx="182880" cy="182880"/>
          </a:xfrm>
          <a:prstGeom prst="ellipse">
            <a:avLst/>
          </a:prstGeom>
          <a:solidFill>
            <a:srgbClr val="28E68C"/>
          </a:solidFill>
          <a:ln w="12700">
            <a:solidFill>
              <a:srgbClr val="28E68C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03720" y="5221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4F8FF"/>
                </a:solidFill>
              </a:rPr>
              <a:t>Conectar y verificar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20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 decir “conectado”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B0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paso es el examen final de la integración.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789920" cy="4114800"/>
          </a:xfrm>
          <a:prstGeom prst="roundRect">
            <a:avLst>
              <a:gd name="adj" fmla="val 1778"/>
            </a:avLst>
          </a:prstGeom>
          <a:solidFill>
            <a:srgbClr val="102947"/>
          </a:solidFill>
          <a:ln w="12700">
            <a:solidFill>
              <a:srgbClr val="1B466F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240280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299716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81328" y="22677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URL válida y HTTPS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1005840" y="2752344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811780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81328" y="27797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Health responde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1005840" y="3264408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3323844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81328" y="32918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Identidad verificada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1005840" y="3776472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3835908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81328" y="38039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Autenticación probada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005840" y="4288536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347972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81328" y="431596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Herramientas descubiertas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1005840" y="4800600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4860036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81328" y="482803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Permisos revisados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400800" y="2240280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299716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76288" y="2267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Primera lectura ejecutada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400800" y="2752344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4808" y="2811780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76288" y="2779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Escrituras protegidas por aprobación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400800" y="3264408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3323844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76288" y="3291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Auditoría registrada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400800" y="3776472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64808" y="3835908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876288" y="38039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Desconexión probada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6400800" y="4288536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64808" y="4347972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76288" y="43159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Errores bloquean operación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6400800" y="4800600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28E68C">
              <a:alpha val="14000"/>
            </a:srgbClr>
          </a:solidFill>
          <a:ln w="12700">
            <a:solidFill>
              <a:srgbClr val="28E68C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4860036"/>
            <a:ext cx="192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E68C"/>
                </a:solidFill>
              </a:rPr>
              <a:t>✓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76288" y="4828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4F8FF"/>
                </a:solidFill>
              </a:rPr>
              <a:t>Propietario conoce la integración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1234440" y="54864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DCFF"/>
                </a:solidFill>
              </a:rPr>
              <a:t>Para EMPRE: “conectado” significa verificado y operativo, no simplemente guardado en un formulario.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AB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EMPRE.IA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EMPRE.IA — Guía de integración</dc:title>
  <dc:subject>Guía para conectar EMPRE.IA a un sistema empresarial</dc:subject>
  <dc:creator>EMPRE.IA</dc:creator>
  <cp:lastModifiedBy>EMPRE.IA</cp:lastModifiedBy>
  <cp:revision>1</cp:revision>
  <dcterms:created xsi:type="dcterms:W3CDTF">2026-10-01T03:42:14Z</dcterms:created>
  <dcterms:modified xsi:type="dcterms:W3CDTF">2026-10-01T03:42:14Z</dcterms:modified>
</cp:coreProperties>
</file>